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6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5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0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6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1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5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4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9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43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9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5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32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356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12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26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41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25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3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7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B228C50-A3EE-E248-A154-6685FE10EC7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879B3E7-A7E4-D242-B7D1-DF58D427E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4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3808-FCC4-A563-4ED0-5E5296EEA7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Bellabeat</a:t>
            </a:r>
            <a:r>
              <a:rPr lang="en-US" dirty="0"/>
              <a:t> Activity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ECD2C-DCD5-EB33-34A3-EB2F00E631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Insights from Smart Device Usage Patterns</a:t>
            </a:r>
          </a:p>
          <a:p>
            <a:endParaRPr lang="en-US" dirty="0"/>
          </a:p>
          <a:p>
            <a:r>
              <a:rPr lang="en-US" dirty="0"/>
              <a:t>By: Kayla Gaymon</a:t>
            </a:r>
          </a:p>
          <a:p>
            <a:r>
              <a:rPr lang="en-US" b="1" dirty="0"/>
              <a:t>Purpose:</a:t>
            </a:r>
            <a:r>
              <a:rPr lang="en-US" dirty="0"/>
              <a:t> Introduce the case study and set context.</a:t>
            </a:r>
          </a:p>
        </p:txBody>
      </p:sp>
    </p:spTree>
    <p:extLst>
      <p:ext uri="{BB962C8B-B14F-4D97-AF65-F5344CB8AC3E}">
        <p14:creationId xmlns:p14="http://schemas.microsoft.com/office/powerpoint/2010/main" val="396148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9FE1-4D7B-8689-79F3-BD92779E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Purpose &amp; Scenario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9E9B1-2993-3221-3F4C-61FCA5345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Content:</a:t>
            </a:r>
            <a:endParaRPr lang="en-US" dirty="0"/>
          </a:p>
          <a:p>
            <a:pPr lvl="1"/>
            <a:r>
              <a:rPr lang="en-US" dirty="0" err="1"/>
              <a:t>Bellabeat</a:t>
            </a:r>
            <a:r>
              <a:rPr lang="en-US" dirty="0"/>
              <a:t> wants to understand how women use smart devices.</a:t>
            </a:r>
          </a:p>
          <a:p>
            <a:pPr lvl="1"/>
            <a:r>
              <a:rPr lang="en-US" dirty="0"/>
              <a:t>Fitbit data is used as a proxy for </a:t>
            </a:r>
            <a:r>
              <a:rPr lang="en-US" dirty="0" err="1"/>
              <a:t>Bellabeat</a:t>
            </a:r>
            <a:r>
              <a:rPr lang="en-US" dirty="0"/>
              <a:t> users.</a:t>
            </a:r>
          </a:p>
          <a:p>
            <a:pPr lvl="1"/>
            <a:r>
              <a:rPr lang="en-US" dirty="0"/>
              <a:t>Goal: Identify activity patterns to improve </a:t>
            </a:r>
            <a:r>
              <a:rPr lang="en-US" dirty="0" err="1"/>
              <a:t>Bellabeat’s</a:t>
            </a:r>
            <a:r>
              <a:rPr lang="en-US" dirty="0"/>
              <a:t> product strategy.</a:t>
            </a:r>
          </a:p>
          <a:p>
            <a:pPr lvl="1"/>
            <a:r>
              <a:rPr lang="en-US" dirty="0"/>
              <a:t>Assumption: Fitbit users behave similarly to </a:t>
            </a:r>
            <a:r>
              <a:rPr lang="en-US" dirty="0" err="1"/>
              <a:t>Bellabeat</a:t>
            </a:r>
            <a:r>
              <a:rPr lang="en-US" dirty="0"/>
              <a:t> users.</a:t>
            </a:r>
          </a:p>
        </p:txBody>
      </p:sp>
    </p:spTree>
    <p:extLst>
      <p:ext uri="{BB962C8B-B14F-4D97-AF65-F5344CB8AC3E}">
        <p14:creationId xmlns:p14="http://schemas.microsoft.com/office/powerpoint/2010/main" val="125077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396A-4545-B99C-C33C-D7BD217B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Steps Trend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26C6A-B1DF-9A86-DBA2-B56E2B806C99}"/>
              </a:ext>
            </a:extLst>
          </p:cNvPr>
          <p:cNvSpPr txBox="1"/>
          <p:nvPr/>
        </p:nvSpPr>
        <p:spPr>
          <a:xfrm>
            <a:off x="913774" y="1580443"/>
            <a:ext cx="10364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Users averaged ~6,500 steps/day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F40C8A-D5C8-EDED-0BEC-D930E6B56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4267" y="2367093"/>
            <a:ext cx="4233960" cy="3424107"/>
          </a:xfrm>
        </p:spPr>
        <p:txBody>
          <a:bodyPr/>
          <a:lstStyle/>
          <a:p>
            <a:r>
              <a:rPr lang="en-US" dirty="0"/>
              <a:t>Daily step counts fluctuated significantly</a:t>
            </a:r>
          </a:p>
          <a:p>
            <a:r>
              <a:rPr lang="en-US" dirty="0"/>
              <a:t>Most days fell below the 10,000‑step guideline</a:t>
            </a:r>
          </a:p>
          <a:p>
            <a:r>
              <a:rPr lang="en-US" dirty="0"/>
              <a:t>Indicates </a:t>
            </a:r>
            <a:r>
              <a:rPr lang="en-US" b="1" dirty="0"/>
              <a:t>moderate activity</a:t>
            </a:r>
            <a:r>
              <a:rPr lang="en-US" dirty="0"/>
              <a:t> overall</a:t>
            </a:r>
          </a:p>
          <a:p>
            <a:r>
              <a:rPr lang="en-US" dirty="0"/>
              <a:t>Only a few days showed high movement spikes</a:t>
            </a:r>
          </a:p>
        </p:txBody>
      </p:sp>
      <p:pic>
        <p:nvPicPr>
          <p:cNvPr id="17" name="Content Placeholder 13">
            <a:extLst>
              <a:ext uri="{FF2B5EF4-FFF2-40B4-BE49-F238E27FC236}">
                <a16:creationId xmlns:a16="http://schemas.microsoft.com/office/drawing/2014/main" id="{1D395653-BEE7-9A1F-E3BC-78A456028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2367093"/>
            <a:ext cx="5441949" cy="346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7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AE8A-7D7A-E9A9-AAEE-94749AF6C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Daily Steps Per User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83C2C5B-E17D-2E2B-664E-5D5F1C205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49" y="2367093"/>
            <a:ext cx="4134477" cy="3424107"/>
          </a:xfrm>
        </p:spPr>
        <p:txBody>
          <a:bodyPr/>
          <a:lstStyle/>
          <a:p>
            <a:r>
              <a:rPr lang="en-US" dirty="0"/>
              <a:t>Some users averaged </a:t>
            </a:r>
            <a:r>
              <a:rPr lang="en-US" b="1" dirty="0"/>
              <a:t>under 1,000 steps/day</a:t>
            </a:r>
            <a:endParaRPr lang="en-US" dirty="0"/>
          </a:p>
          <a:p>
            <a:r>
              <a:rPr lang="en-US" dirty="0"/>
              <a:t>Some averaged </a:t>
            </a:r>
            <a:r>
              <a:rPr lang="en-US" b="1" dirty="0"/>
              <a:t>over 17,000 steps/day</a:t>
            </a:r>
            <a:endParaRPr lang="en-US" dirty="0"/>
          </a:p>
          <a:p>
            <a:r>
              <a:rPr lang="en-US" dirty="0"/>
              <a:t>Shows </a:t>
            </a:r>
            <a:r>
              <a:rPr lang="en-US" b="1" dirty="0"/>
              <a:t>inconsistent device usage</a:t>
            </a:r>
            <a:r>
              <a:rPr lang="en-US" dirty="0"/>
              <a:t> or lifestyle differences</a:t>
            </a:r>
          </a:p>
          <a:p>
            <a:r>
              <a:rPr lang="en-US" dirty="0" err="1"/>
              <a:t>Bellabeat</a:t>
            </a:r>
            <a:r>
              <a:rPr lang="en-US" dirty="0"/>
              <a:t> users likely have diverse movement habits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70267C-203B-B55B-F30D-CFB5F10B6ACB}"/>
              </a:ext>
            </a:extLst>
          </p:cNvPr>
          <p:cNvSpPr txBox="1"/>
          <p:nvPr/>
        </p:nvSpPr>
        <p:spPr>
          <a:xfrm>
            <a:off x="913774" y="1691640"/>
            <a:ext cx="10364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Activity levels vary widely across users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3D9EC6-91B6-24E9-7360-BD3699418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2526030"/>
            <a:ext cx="6040104" cy="326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4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C3AB5-14CF-3609-1570-B0B3D3C3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Sedentary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4A0B-E429-6948-15C1-7E44D2557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2299" y="2367093"/>
            <a:ext cx="4305927" cy="342410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Sedentary minutes increased over the period, with later days much higher than earlier days</a:t>
            </a:r>
          </a:p>
          <a:p>
            <a:r>
              <a:rPr lang="en-US" dirty="0"/>
              <a:t>When compared with daily steps (Slide 3), some higher‑step days still show high sedentary minutes</a:t>
            </a:r>
          </a:p>
          <a:p>
            <a:r>
              <a:rPr lang="en-US" dirty="0"/>
              <a:t>Users take short movement breaks, not sustained activity</a:t>
            </a:r>
          </a:p>
          <a:p>
            <a:r>
              <a:rPr lang="en-US" dirty="0" err="1"/>
              <a:t>Bellabeat</a:t>
            </a:r>
            <a:r>
              <a:rPr lang="en-US" dirty="0"/>
              <a:t> could encourage more consistent movement throughout the day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7E4FE-D76D-2D56-7C32-88C513D8FA13}"/>
              </a:ext>
            </a:extLst>
          </p:cNvPr>
          <p:cNvSpPr txBox="1"/>
          <p:nvPr/>
        </p:nvSpPr>
        <p:spPr>
          <a:xfrm>
            <a:off x="913775" y="1657350"/>
            <a:ext cx="10364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Users spent ~18–19 hours/day sedentary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84980F-7BE7-37BA-51EE-FB236B37F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84" y="2367092"/>
            <a:ext cx="5594946" cy="34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3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E90A-86F6-0D2F-0A54-987CBC42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Calories Burned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90190-C17D-9D4E-BE50-F4EE76131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780" y="2367093"/>
            <a:ext cx="5037446" cy="342410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Higher step days generally show higher calorie burn</a:t>
            </a:r>
            <a:r>
              <a:rPr lang="en-US" dirty="0"/>
              <a:t> (This comes from comparing Slide 3 + Slide 6.)</a:t>
            </a:r>
          </a:p>
          <a:p>
            <a:r>
              <a:rPr lang="en-US" b="1" dirty="0"/>
              <a:t>Some days show high calories with lower steps</a:t>
            </a:r>
            <a:r>
              <a:rPr lang="en-US" dirty="0"/>
              <a:t> (This indicates intensity—running, workouts, etc.)</a:t>
            </a:r>
          </a:p>
          <a:p>
            <a:r>
              <a:rPr lang="en-US" b="1" dirty="0"/>
              <a:t>Calorie burn varies more than steps, suggesting intensity differences</a:t>
            </a:r>
            <a:r>
              <a:rPr lang="en-US" dirty="0"/>
              <a:t> (Calories fluctuate more than steps.)</a:t>
            </a:r>
          </a:p>
          <a:p>
            <a:r>
              <a:rPr lang="en-US" b="1" dirty="0"/>
              <a:t>Intensity influences calorie burn more than step count alone</a:t>
            </a:r>
            <a:r>
              <a:rPr lang="en-US" dirty="0"/>
              <a:t> (This is supported by your scatter plot in Slide 7.)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A92FE-DE00-8F4C-84C4-FA7FACFD3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2555146"/>
            <a:ext cx="5175785" cy="304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C5DD88-265B-F036-D9C4-8621675716EB}"/>
              </a:ext>
            </a:extLst>
          </p:cNvPr>
          <p:cNvSpPr txBox="1"/>
          <p:nvPr/>
        </p:nvSpPr>
        <p:spPr>
          <a:xfrm>
            <a:off x="913774" y="1631765"/>
            <a:ext cx="10364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Calorie burn follows movement patterns</a:t>
            </a:r>
          </a:p>
        </p:txBody>
      </p:sp>
    </p:spTree>
    <p:extLst>
      <p:ext uri="{BB962C8B-B14F-4D97-AF65-F5344CB8AC3E}">
        <p14:creationId xmlns:p14="http://schemas.microsoft.com/office/powerpoint/2010/main" val="3314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F2A2-DDB8-96CB-411A-70554C82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Between Steps and Calories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8D61-3869-2065-0B31-A14220553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009" y="2367093"/>
            <a:ext cx="4340217" cy="3424107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More steps generally lead to more calories burned</a:t>
            </a:r>
            <a:endParaRPr lang="en-US" dirty="0"/>
          </a:p>
          <a:p>
            <a:r>
              <a:rPr lang="en-US" b="1" dirty="0"/>
              <a:t>Some points show high calories with fewer steps → higher‑intensity activity</a:t>
            </a:r>
            <a:endParaRPr lang="en-US" dirty="0"/>
          </a:p>
          <a:p>
            <a:r>
              <a:rPr lang="en-US" b="1" dirty="0"/>
              <a:t>Some points show many steps with moderate calories → lower‑intensity walking</a:t>
            </a:r>
            <a:endParaRPr lang="en-US" dirty="0"/>
          </a:p>
          <a:p>
            <a:r>
              <a:rPr lang="en-US" b="1" dirty="0"/>
              <a:t>Intensity influences calorie burn more than step count alone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D8621-1CFD-C661-E00A-A41B63A2B642}"/>
              </a:ext>
            </a:extLst>
          </p:cNvPr>
          <p:cNvSpPr txBox="1"/>
          <p:nvPr/>
        </p:nvSpPr>
        <p:spPr>
          <a:xfrm>
            <a:off x="913775" y="1783080"/>
            <a:ext cx="10364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Positive relationship with intensity effects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7DD09-8358-81C3-7CFA-6E0C540A4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10" y="2353635"/>
            <a:ext cx="5213350" cy="352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277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278A-B73E-D15A-C611-0A70D15E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Steps vs Sedentary Minutes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7A5EE-FE7A-25DC-24E9-D6BFD5F71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589" y="2367093"/>
            <a:ext cx="4271637" cy="342410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Sedentary minutes and steps both increase over time, reflecting higher overall device usage.</a:t>
            </a:r>
            <a:endParaRPr lang="en-US" dirty="0"/>
          </a:p>
          <a:p>
            <a:r>
              <a:rPr lang="en-US" b="1" dirty="0"/>
              <a:t>High sedentary totals do not necessarily correspond to low step totals in this aggregated dataset.</a:t>
            </a:r>
            <a:endParaRPr lang="en-US" dirty="0"/>
          </a:p>
          <a:p>
            <a:r>
              <a:rPr lang="en-US" b="1" dirty="0"/>
              <a:t>Some days show high sedentary minutes alongside high step counts, indicating mixed activity patterns across users.</a:t>
            </a:r>
            <a:endParaRPr lang="en-US" dirty="0"/>
          </a:p>
          <a:p>
            <a:r>
              <a:rPr lang="en-US" b="1" dirty="0"/>
              <a:t>Sedentary minutes and steps appear to vary independently when summed across all users.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43745-D3E7-8D32-8A17-F23FD71DD012}"/>
              </a:ext>
            </a:extLst>
          </p:cNvPr>
          <p:cNvSpPr txBox="1"/>
          <p:nvPr/>
        </p:nvSpPr>
        <p:spPr>
          <a:xfrm>
            <a:off x="913774" y="1668780"/>
            <a:ext cx="10364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Sedentary minutes and steps vary independently across users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68171-C54A-7DA1-042B-6D1B7450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220" y="2367093"/>
            <a:ext cx="5086898" cy="308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3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7B0B-13C9-08A3-EC5A-B1B06B53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Key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E3136-F821-F105-9655-D528F0A1D7A7}"/>
              </a:ext>
            </a:extLst>
          </p:cNvPr>
          <p:cNvSpPr txBox="1"/>
          <p:nvPr/>
        </p:nvSpPr>
        <p:spPr>
          <a:xfrm>
            <a:off x="913773" y="1748790"/>
            <a:ext cx="10364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Insights from Daily Activity, Sedentary Time, and Calorie Trends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91FE4E-B6F3-A116-7234-986447C3CFAD}"/>
              </a:ext>
            </a:extLst>
          </p:cNvPr>
          <p:cNvGrpSpPr/>
          <p:nvPr/>
        </p:nvGrpSpPr>
        <p:grpSpPr>
          <a:xfrm>
            <a:off x="3804598" y="2459069"/>
            <a:ext cx="4051622" cy="3595021"/>
            <a:chOff x="3804598" y="2459069"/>
            <a:chExt cx="4051622" cy="3595021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197003B5-20D0-1B06-FF2C-0FB0D81E2633}"/>
                </a:ext>
              </a:extLst>
            </p:cNvPr>
            <p:cNvSpPr txBox="1">
              <a:spLocks/>
            </p:cNvSpPr>
            <p:nvPr/>
          </p:nvSpPr>
          <p:spPr>
            <a:xfrm>
              <a:off x="4003685" y="2914650"/>
              <a:ext cx="3852535" cy="31394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8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Encourage more consistent daily movement</a:t>
              </a:r>
              <a:r>
                <a:rPr lang="en-US" dirty="0"/>
                <a:t> through reminders, nudges, and micro‑goals</a:t>
              </a:r>
            </a:p>
            <a:p>
              <a:r>
                <a:rPr lang="en-US" b="1" dirty="0"/>
                <a:t>Highlight intensity‑based insights</a:t>
              </a:r>
              <a:r>
                <a:rPr lang="en-US" dirty="0"/>
                <a:t> (e.g., workout types, effort zones) to improve calorie understanding</a:t>
              </a:r>
            </a:p>
            <a:p>
              <a:r>
                <a:rPr lang="en-US" b="1" dirty="0"/>
                <a:t>Develop features that reduce sedentary time</a:t>
              </a:r>
              <a:r>
                <a:rPr lang="en-US" dirty="0"/>
                <a:t>, such as posture alerts or movement streaks</a:t>
              </a:r>
            </a:p>
            <a:p>
              <a:r>
                <a:rPr lang="en-US" b="1" dirty="0"/>
                <a:t>Personalize activity suggestions</a:t>
              </a:r>
              <a:r>
                <a:rPr lang="en-US" dirty="0"/>
                <a:t> based on user patterns (low‑step days, high‑sedentary days, etc.)</a:t>
              </a:r>
            </a:p>
            <a:p>
              <a:r>
                <a:rPr lang="en-US" b="1" dirty="0"/>
                <a:t>Promote balanced daily routines</a:t>
              </a:r>
              <a:r>
                <a:rPr lang="en-US" dirty="0"/>
                <a:t> by combining step goals with sedentary‑time reduction goals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14AC7A-E29B-3C45-5616-E50A759276EE}"/>
                </a:ext>
              </a:extLst>
            </p:cNvPr>
            <p:cNvSpPr txBox="1"/>
            <p:nvPr/>
          </p:nvSpPr>
          <p:spPr>
            <a:xfrm>
              <a:off x="3804598" y="2459069"/>
              <a:ext cx="3852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/>
                <a:t>Recommendations for </a:t>
              </a:r>
              <a:r>
                <a:rPr lang="en-US" b="1" u="sng" dirty="0" err="1"/>
                <a:t>Bellabeat</a:t>
              </a:r>
              <a:endParaRPr lang="en-US" b="1" u="sng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ABD36BC-79F4-0F0A-0108-B1EFD84FE00B}"/>
              </a:ext>
            </a:extLst>
          </p:cNvPr>
          <p:cNvGrpSpPr/>
          <p:nvPr/>
        </p:nvGrpSpPr>
        <p:grpSpPr>
          <a:xfrm>
            <a:off x="7546018" y="2487120"/>
            <a:ext cx="4051622" cy="3595021"/>
            <a:chOff x="3804598" y="2459069"/>
            <a:chExt cx="4051622" cy="3595021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3B46F36A-0866-1039-78CC-82C42F5C5A33}"/>
                </a:ext>
              </a:extLst>
            </p:cNvPr>
            <p:cNvSpPr txBox="1">
              <a:spLocks/>
            </p:cNvSpPr>
            <p:nvPr/>
          </p:nvSpPr>
          <p:spPr>
            <a:xfrm>
              <a:off x="4003685" y="2914650"/>
              <a:ext cx="3852535" cy="31394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8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Analyze individual user patterns</a:t>
              </a:r>
              <a:r>
                <a:rPr lang="en-US" dirty="0"/>
                <a:t> instead of aggregated totals to refine recommendations</a:t>
              </a:r>
            </a:p>
            <a:p>
              <a:r>
                <a:rPr lang="en-US" b="1" dirty="0"/>
                <a:t>Segment users by activity level</a:t>
              </a:r>
              <a:r>
                <a:rPr lang="en-US" dirty="0"/>
                <a:t> (low, moderate, high) for targeted coaching</a:t>
              </a:r>
            </a:p>
            <a:p>
              <a:r>
                <a:rPr lang="en-US" b="1" dirty="0"/>
                <a:t>Incorporate heart‑rate or intensity data</a:t>
              </a:r>
              <a:r>
                <a:rPr lang="en-US" dirty="0"/>
                <a:t> to improve calorie accuracy</a:t>
              </a:r>
            </a:p>
            <a:p>
              <a:r>
                <a:rPr lang="en-US" b="1" dirty="0"/>
                <a:t>Test new features</a:t>
              </a:r>
              <a:r>
                <a:rPr lang="en-US" dirty="0"/>
                <a:t> (movement streaks, intensity badges, sedentary alerts) with a pilot group</a:t>
              </a:r>
            </a:p>
            <a:p>
              <a:r>
                <a:rPr lang="en-US" b="1" dirty="0"/>
                <a:t>Use insights to enhance marketing</a:t>
              </a:r>
              <a:r>
                <a:rPr lang="en-US" dirty="0"/>
                <a:t> by highlighting how </a:t>
              </a:r>
              <a:r>
                <a:rPr lang="en-US" dirty="0" err="1"/>
                <a:t>Bellabeat</a:t>
              </a:r>
              <a:r>
                <a:rPr lang="en-US" dirty="0"/>
                <a:t> supports daily wellness habits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287247-9908-CBB8-1219-96A2364DAFF9}"/>
                </a:ext>
              </a:extLst>
            </p:cNvPr>
            <p:cNvSpPr txBox="1"/>
            <p:nvPr/>
          </p:nvSpPr>
          <p:spPr>
            <a:xfrm>
              <a:off x="3804598" y="2459069"/>
              <a:ext cx="3852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/>
                <a:t>Next Steps for </a:t>
              </a:r>
              <a:r>
                <a:rPr lang="en-US" b="1" u="sng" dirty="0" err="1"/>
                <a:t>Bellabeat</a:t>
              </a:r>
              <a:endParaRPr lang="en-US" b="1" u="sng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AEE9B0-52D0-E8D6-B7B1-68560C1E9B92}"/>
              </a:ext>
            </a:extLst>
          </p:cNvPr>
          <p:cNvGrpSpPr/>
          <p:nvPr/>
        </p:nvGrpSpPr>
        <p:grpSpPr>
          <a:xfrm>
            <a:off x="63178" y="2487120"/>
            <a:ext cx="4051622" cy="3595021"/>
            <a:chOff x="3804598" y="2459069"/>
            <a:chExt cx="4051622" cy="3595021"/>
          </a:xfrm>
        </p:grpSpPr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F7B1DB0C-50AB-371B-F27D-CB6659C8C447}"/>
                </a:ext>
              </a:extLst>
            </p:cNvPr>
            <p:cNvSpPr txBox="1">
              <a:spLocks/>
            </p:cNvSpPr>
            <p:nvPr/>
          </p:nvSpPr>
          <p:spPr>
            <a:xfrm>
              <a:off x="4003685" y="2914650"/>
              <a:ext cx="3852535" cy="31394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8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Users averaged ~6,500 steps/day</a:t>
              </a:r>
              <a:r>
                <a:rPr lang="en-US" dirty="0"/>
                <a:t>, indicating moderate overall activity</a:t>
              </a:r>
            </a:p>
            <a:p>
              <a:r>
                <a:rPr lang="en-US" b="1" dirty="0"/>
                <a:t>Daily steps varied widely</a:t>
              </a:r>
              <a:r>
                <a:rPr lang="en-US" dirty="0"/>
                <a:t>, showing inconsistent movement patterns across users</a:t>
              </a:r>
            </a:p>
            <a:p>
              <a:r>
                <a:rPr lang="en-US" b="1" dirty="0"/>
                <a:t>Sedentary minutes increased significantly over time</a:t>
              </a:r>
              <a:r>
                <a:rPr lang="en-US" dirty="0"/>
                <a:t>, reflecting higher overall device usage</a:t>
              </a:r>
            </a:p>
            <a:p>
              <a:r>
                <a:rPr lang="en-US" b="1" dirty="0"/>
                <a:t>Steps and sedentary minutes varied independently</a:t>
              </a:r>
              <a:r>
                <a:rPr lang="en-US" dirty="0"/>
                <a:t>, suggesting mixed activity levels across users</a:t>
              </a:r>
            </a:p>
            <a:p>
              <a:r>
                <a:rPr lang="en-US" b="1" dirty="0"/>
                <a:t>Calories generally increased with steps</a:t>
              </a:r>
              <a:r>
                <a:rPr lang="en-US" dirty="0"/>
                <a:t>, but intensity differences created variation</a:t>
              </a:r>
            </a:p>
            <a:p>
              <a:r>
                <a:rPr lang="en-US" b="1" dirty="0"/>
                <a:t>Scatter plots show intensity affects calorie burn beyond step count alone</a:t>
              </a:r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9BB5FA-B51A-4E72-9CD8-F796DFE1CDC7}"/>
                </a:ext>
              </a:extLst>
            </p:cNvPr>
            <p:cNvSpPr txBox="1"/>
            <p:nvPr/>
          </p:nvSpPr>
          <p:spPr>
            <a:xfrm>
              <a:off x="3804598" y="2459069"/>
              <a:ext cx="3852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/>
                <a:t>Summary of Findings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991739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57</TotalTime>
  <Words>666</Words>
  <Application>Microsoft Macintosh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Tw Cen MT</vt:lpstr>
      <vt:lpstr>Droplet</vt:lpstr>
      <vt:lpstr>Bellabeat Activity Analysis</vt:lpstr>
      <vt:lpstr>Project Purpose &amp; Scenario</vt:lpstr>
      <vt:lpstr>Daily Steps Trend</vt:lpstr>
      <vt:lpstr>Average Daily Steps Per User</vt:lpstr>
      <vt:lpstr>Daily Sedentary Minutes</vt:lpstr>
      <vt:lpstr>Daily Calories Burned</vt:lpstr>
      <vt:lpstr>Correlation Between Steps and Calories</vt:lpstr>
      <vt:lpstr>Steps vs Sedentary Minutes</vt:lpstr>
      <vt:lpstr>Summary of 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Gaymon</dc:creator>
  <cp:lastModifiedBy>Kayla Gaymon</cp:lastModifiedBy>
  <cp:revision>2</cp:revision>
  <dcterms:created xsi:type="dcterms:W3CDTF">2026-07-13T20:07:46Z</dcterms:created>
  <dcterms:modified xsi:type="dcterms:W3CDTF">2026-07-13T21:05:15Z</dcterms:modified>
</cp:coreProperties>
</file>